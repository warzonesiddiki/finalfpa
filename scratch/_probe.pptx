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Opening</c:v>
                </c:pt>
                <c:pt idx="1">
                  <c:v>Materials</c:v>
                </c:pt>
                <c:pt idx="2">
                  <c:v>Closing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15770000.0</c:v>
                </c:pt>
                <c:pt idx="1">
                  <c:v>78000.0</c:v>
                </c:pt>
                <c:pt idx="2">
                  <c:v>16645000.0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PA-PPT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001_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PT-001_title"/>
          <p:cNvSpPr txBox="1"/>
          <p:nvPr/>
        </p:nvSpPr>
        <p:spPr>
          <a:xfrm>
            <a:off x="411480" y="2011680"/>
            <a:ext cx="1136599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" name="PPT-001_packline"/>
          <p:cNvSpPr txBox="1"/>
          <p:nvPr/>
        </p:nvSpPr>
        <p:spPr>
          <a:xfrm>
            <a:off x="411480" y="2788920"/>
            <a:ext cx="1136599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5" name="PPT-001_periodline"/>
          <p:cNvSpPr txBox="1"/>
          <p:nvPr/>
        </p:nvSpPr>
        <p:spPr>
          <a:xfrm>
            <a:off x="411480" y="329184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" name="PPT-001_sources"/>
          <p:cNvSpPr txBox="1"/>
          <p:nvPr/>
        </p:nvSpPr>
        <p:spPr>
          <a:xfrm>
            <a:off x="411480" y="3794760"/>
            <a:ext cx="6858000" cy="1463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" name="PPT-001_stamp"/>
          <p:cNvSpPr txBox="1"/>
          <p:nvPr/>
        </p:nvSpPr>
        <p:spPr>
          <a:xfrm>
            <a:off x="7662672" y="3794760"/>
            <a:ext cx="411480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9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pic>
        <p:nvPicPr>
          <p:cNvPr id="8" name="PPT-001_logo" descr="Proje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320040"/>
            <a:ext cx="1874519" cy="822960"/>
          </a:xfrm>
          <a:prstGeom prst="rect">
            <a:avLst/>
          </a:prstGeom>
        </p:spPr>
      </p:pic>
      <p:sp>
        <p:nvSpPr>
          <p:cNvPr id="9" name="PPT-001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" name="PPT-001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PA-PPT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PT-002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2" name="PPT-002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3" name="PPT-002_kpi1_card"/>
          <p:cNvSpPr/>
          <p:nvPr/>
        </p:nvSpPr>
        <p:spPr>
          <a:xfrm>
            <a:off x="411480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PT-002_kpi1_signal"/>
          <p:cNvSpPr/>
          <p:nvPr/>
        </p:nvSpPr>
        <p:spPr>
          <a:xfrm>
            <a:off x="411480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PT-002_kpi1_label"/>
          <p:cNvSpPr txBox="1"/>
          <p:nvPr/>
        </p:nvSpPr>
        <p:spPr>
          <a:xfrm>
            <a:off x="557784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6" name="PPT-002_kpi1_value"/>
          <p:cNvSpPr txBox="1"/>
          <p:nvPr/>
        </p:nvSpPr>
        <p:spPr>
          <a:xfrm>
            <a:off x="557784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7" name="PPT-002_kpi1_compare"/>
          <p:cNvSpPr txBox="1"/>
          <p:nvPr/>
        </p:nvSpPr>
        <p:spPr>
          <a:xfrm>
            <a:off x="557784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8" name="PPT-002_kpi2_card"/>
          <p:cNvSpPr/>
          <p:nvPr/>
        </p:nvSpPr>
        <p:spPr>
          <a:xfrm>
            <a:off x="4279392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PT-002_kpi2_signal"/>
          <p:cNvSpPr/>
          <p:nvPr/>
        </p:nvSpPr>
        <p:spPr>
          <a:xfrm>
            <a:off x="4279392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PT-002_kpi2_label"/>
          <p:cNvSpPr txBox="1"/>
          <p:nvPr/>
        </p:nvSpPr>
        <p:spPr>
          <a:xfrm>
            <a:off x="4425696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1" name="PPT-002_kpi2_value"/>
          <p:cNvSpPr txBox="1"/>
          <p:nvPr/>
        </p:nvSpPr>
        <p:spPr>
          <a:xfrm>
            <a:off x="4425696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22" name="PPT-002_kpi2_compare"/>
          <p:cNvSpPr txBox="1"/>
          <p:nvPr/>
        </p:nvSpPr>
        <p:spPr>
          <a:xfrm>
            <a:off x="4425696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3" name="PPT-002_kpi3_card"/>
          <p:cNvSpPr/>
          <p:nvPr/>
        </p:nvSpPr>
        <p:spPr>
          <a:xfrm>
            <a:off x="8147304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PT-002_kpi3_signal"/>
          <p:cNvSpPr/>
          <p:nvPr/>
        </p:nvSpPr>
        <p:spPr>
          <a:xfrm>
            <a:off x="8147304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PT-002_kpi3_label"/>
          <p:cNvSpPr txBox="1"/>
          <p:nvPr/>
        </p:nvSpPr>
        <p:spPr>
          <a:xfrm>
            <a:off x="8293608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6" name="PPT-002_kpi3_value"/>
          <p:cNvSpPr txBox="1"/>
          <p:nvPr/>
        </p:nvSpPr>
        <p:spPr>
          <a:xfrm>
            <a:off x="8293608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27" name="PPT-002_kpi3_compare"/>
          <p:cNvSpPr txBox="1"/>
          <p:nvPr/>
        </p:nvSpPr>
        <p:spPr>
          <a:xfrm>
            <a:off x="8293608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8" name="PPT-002_kpi4_card"/>
          <p:cNvSpPr/>
          <p:nvPr/>
        </p:nvSpPr>
        <p:spPr>
          <a:xfrm>
            <a:off x="411480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PT-002_kpi4_signal"/>
          <p:cNvSpPr/>
          <p:nvPr/>
        </p:nvSpPr>
        <p:spPr>
          <a:xfrm>
            <a:off x="411480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PT-002_kpi4_label"/>
          <p:cNvSpPr txBox="1"/>
          <p:nvPr/>
        </p:nvSpPr>
        <p:spPr>
          <a:xfrm>
            <a:off x="557784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1" name="PPT-002_kpi4_value"/>
          <p:cNvSpPr txBox="1"/>
          <p:nvPr/>
        </p:nvSpPr>
        <p:spPr>
          <a:xfrm>
            <a:off x="557784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32" name="PPT-002_kpi4_compare"/>
          <p:cNvSpPr txBox="1"/>
          <p:nvPr/>
        </p:nvSpPr>
        <p:spPr>
          <a:xfrm>
            <a:off x="557784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3" name="PPT-002_kpi5_card"/>
          <p:cNvSpPr/>
          <p:nvPr/>
        </p:nvSpPr>
        <p:spPr>
          <a:xfrm>
            <a:off x="4279392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PT-002_kpi5_signal"/>
          <p:cNvSpPr/>
          <p:nvPr/>
        </p:nvSpPr>
        <p:spPr>
          <a:xfrm>
            <a:off x="4279392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PT-002_kpi5_label"/>
          <p:cNvSpPr txBox="1"/>
          <p:nvPr/>
        </p:nvSpPr>
        <p:spPr>
          <a:xfrm>
            <a:off x="4425696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6" name="PPT-002_kpi5_value"/>
          <p:cNvSpPr txBox="1"/>
          <p:nvPr/>
        </p:nvSpPr>
        <p:spPr>
          <a:xfrm>
            <a:off x="4425696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37" name="PPT-002_kpi5_compare"/>
          <p:cNvSpPr txBox="1"/>
          <p:nvPr/>
        </p:nvSpPr>
        <p:spPr>
          <a:xfrm>
            <a:off x="4425696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8" name="PPT-002_kpi6_card"/>
          <p:cNvSpPr/>
          <p:nvPr/>
        </p:nvSpPr>
        <p:spPr>
          <a:xfrm>
            <a:off x="8147304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PT-002_kpi6_signal"/>
          <p:cNvSpPr/>
          <p:nvPr/>
        </p:nvSpPr>
        <p:spPr>
          <a:xfrm>
            <a:off x="8147304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PT-002_kpi6_label"/>
          <p:cNvSpPr txBox="1"/>
          <p:nvPr/>
        </p:nvSpPr>
        <p:spPr>
          <a:xfrm>
            <a:off x="8293608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1" name="PPT-002_kpi6_value"/>
          <p:cNvSpPr txBox="1"/>
          <p:nvPr/>
        </p:nvSpPr>
        <p:spPr>
          <a:xfrm>
            <a:off x="8293608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2" name="PPT-002_kpi6_compare"/>
          <p:cNvSpPr txBox="1"/>
          <p:nvPr/>
        </p:nvSpPr>
        <p:spPr>
          <a:xfrm>
            <a:off x="8293608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3" name="PPT-002_narrative_label"/>
          <p:cNvSpPr txBox="1"/>
          <p:nvPr/>
        </p:nvSpPr>
        <p:spPr>
          <a:xfrm>
            <a:off x="411480" y="3931920"/>
            <a:ext cx="1136599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4" name="PPT-002_narrative"/>
          <p:cNvSpPr txBox="1"/>
          <p:nvPr/>
        </p:nvSpPr>
        <p:spPr>
          <a:xfrm>
            <a:off x="411480" y="4242816"/>
            <a:ext cx="11365992" cy="17190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45" name="PPT-002_footnote"/>
          <p:cNvSpPr txBox="1"/>
          <p:nvPr/>
        </p:nvSpPr>
        <p:spPr>
          <a:xfrm>
            <a:off x="411480" y="6071616"/>
            <a:ext cx="113659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6" name="PPT-002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7" name="PPT-002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PA-PPT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PT-003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9" name="PPT-003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50" name="PPT-003_chart_bridge"/>
          <p:cNvGraphicFramePr>
            <a:graphicFrameLocks noGrp="1"/>
          </p:cNvGraphicFramePr>
          <p:nvPr/>
        </p:nvGraphicFramePr>
        <p:xfrm>
          <a:off x="411480" y="1325880"/>
          <a:ext cx="7863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PPT-003_drivers"/>
          <p:cNvSpPr txBox="1"/>
          <p:nvPr/>
        </p:nvSpPr>
        <p:spPr>
          <a:xfrm>
            <a:off x="8503920" y="1325880"/>
            <a:ext cx="3273552" cy="4526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52" name="PPT-003_tieout"/>
          <p:cNvSpPr txBox="1"/>
          <p:nvPr/>
        </p:nvSpPr>
        <p:spPr>
          <a:xfrm>
            <a:off x="411480" y="598017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3" name="PPT-003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4" name="PPT-003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PA-PPT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PT-004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56" name="PPT-004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57" name="PPT-004_table"/>
          <p:cNvGraphicFramePr>
            <a:graphicFrameLocks noGrp="1"/>
          </p:cNvGraphicFramePr>
          <p:nvPr/>
        </p:nvGraphicFramePr>
        <p:xfrm>
          <a:off x="411480" y="1325880"/>
          <a:ext cx="11365992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  <a:gridCol w="1508760"/>
                <a:gridCol w="1051560"/>
                <a:gridCol w="914400"/>
                <a:gridCol w="2221992"/>
              </a:tblGrid>
              <a:tr h="470262">
                <a:tc>
                  <a:txBody>
                    <a:bodyPr wrap="square"/>
                    <a:lstStyle/>
                    <a:p>
                      <a:r>
                        <a:t>Account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 %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Sig.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PPT-004_provenance"/>
          <p:cNvSpPr txBox="1"/>
          <p:nvPr/>
        </p:nvSpPr>
        <p:spPr>
          <a:xfrm>
            <a:off x="411480" y="47548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9" name="PPT-004_notes_line"/>
          <p:cNvSpPr txBox="1"/>
          <p:nvPr/>
        </p:nvSpPr>
        <p:spPr>
          <a:xfrm>
            <a:off x="411480" y="5138928"/>
            <a:ext cx="11365992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0" name="PPT-004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1" name="PPT-004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PA-PPT-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PT-005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63" name="PPT-005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4" name="PPT-005_chip1"/>
          <p:cNvSpPr/>
          <p:nvPr/>
        </p:nvSpPr>
        <p:spPr>
          <a:xfrm>
            <a:off x="411480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PT-005_chip1_label"/>
          <p:cNvSpPr txBox="1"/>
          <p:nvPr/>
        </p:nvSpPr>
        <p:spPr>
          <a:xfrm>
            <a:off x="557784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6" name="PPT-005_chip1_value"/>
          <p:cNvSpPr txBox="1"/>
          <p:nvPr/>
        </p:nvSpPr>
        <p:spPr>
          <a:xfrm>
            <a:off x="557784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67" name="PPT-005_chip2"/>
          <p:cNvSpPr/>
          <p:nvPr/>
        </p:nvSpPr>
        <p:spPr>
          <a:xfrm>
            <a:off x="3282696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PT-005_chip2_label"/>
          <p:cNvSpPr txBox="1"/>
          <p:nvPr/>
        </p:nvSpPr>
        <p:spPr>
          <a:xfrm>
            <a:off x="3429000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9" name="PPT-005_chip2_value"/>
          <p:cNvSpPr txBox="1"/>
          <p:nvPr/>
        </p:nvSpPr>
        <p:spPr>
          <a:xfrm>
            <a:off x="3429000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0" name="PPT-005_chip3"/>
          <p:cNvSpPr/>
          <p:nvPr/>
        </p:nvSpPr>
        <p:spPr>
          <a:xfrm>
            <a:off x="6153912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PT-005_chip3_label"/>
          <p:cNvSpPr txBox="1"/>
          <p:nvPr/>
        </p:nvSpPr>
        <p:spPr>
          <a:xfrm>
            <a:off x="6300216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72" name="PPT-005_chip3_value"/>
          <p:cNvSpPr txBox="1"/>
          <p:nvPr/>
        </p:nvSpPr>
        <p:spPr>
          <a:xfrm>
            <a:off x="6300216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3" name="PPT-005_chip4"/>
          <p:cNvSpPr/>
          <p:nvPr/>
        </p:nvSpPr>
        <p:spPr>
          <a:xfrm>
            <a:off x="9025128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PT-005_chip4_label"/>
          <p:cNvSpPr txBox="1"/>
          <p:nvPr/>
        </p:nvSpPr>
        <p:spPr>
          <a:xfrm>
            <a:off x="9171432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75" name="PPT-005_chip4_value"/>
          <p:cNvSpPr txBox="1"/>
          <p:nvPr/>
        </p:nvSpPr>
        <p:spPr>
          <a:xfrm>
            <a:off x="9171432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6" name="PPT-005_risknote"/>
          <p:cNvSpPr txBox="1"/>
          <p:nvPr/>
        </p:nvSpPr>
        <p:spPr>
          <a:xfrm>
            <a:off x="411480" y="2048256"/>
            <a:ext cx="1136599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77" name="PPT-005_table"/>
          <p:cNvGraphicFramePr>
            <a:graphicFrameLocks noGrp="1"/>
          </p:cNvGraphicFramePr>
          <p:nvPr/>
        </p:nvGraphicFramePr>
        <p:xfrm>
          <a:off x="411480" y="2359152"/>
          <a:ext cx="1136599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1371600"/>
                <a:gridCol w="914400"/>
                <a:gridCol w="1280160"/>
                <a:gridCol w="2587752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Sev.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 / Age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PPT-005_summary"/>
          <p:cNvSpPr txBox="1"/>
          <p:nvPr/>
        </p:nvSpPr>
        <p:spPr>
          <a:xfrm>
            <a:off x="411480" y="5431536"/>
            <a:ext cx="11365992" cy="859536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9" name="PPT-005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0" name="PPT-005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PA-PPT-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PT-006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82" name="PPT-006_scenario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3" name="PPT-006_card1"/>
          <p:cNvSpPr/>
          <p:nvPr/>
        </p:nvSpPr>
        <p:spPr>
          <a:xfrm>
            <a:off x="411480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PT-006_card1_label"/>
          <p:cNvSpPr txBox="1"/>
          <p:nvPr/>
        </p:nvSpPr>
        <p:spPr>
          <a:xfrm>
            <a:off x="557784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5" name="PPT-006_card1_value"/>
          <p:cNvSpPr txBox="1"/>
          <p:nvPr/>
        </p:nvSpPr>
        <p:spPr>
          <a:xfrm>
            <a:off x="557784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86" name="PPT-006_card1_compare"/>
          <p:cNvSpPr txBox="1"/>
          <p:nvPr/>
        </p:nvSpPr>
        <p:spPr>
          <a:xfrm>
            <a:off x="557784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7" name="PPT-006_card2"/>
          <p:cNvSpPr/>
          <p:nvPr/>
        </p:nvSpPr>
        <p:spPr>
          <a:xfrm>
            <a:off x="4279392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PPT-006_card2_label"/>
          <p:cNvSpPr txBox="1"/>
          <p:nvPr/>
        </p:nvSpPr>
        <p:spPr>
          <a:xfrm>
            <a:off x="4425696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9" name="PPT-006_card2_value"/>
          <p:cNvSpPr txBox="1"/>
          <p:nvPr/>
        </p:nvSpPr>
        <p:spPr>
          <a:xfrm>
            <a:off x="4425696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90" name="PPT-006_card2_compare"/>
          <p:cNvSpPr txBox="1"/>
          <p:nvPr/>
        </p:nvSpPr>
        <p:spPr>
          <a:xfrm>
            <a:off x="4425696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1" name="PPT-006_card3"/>
          <p:cNvSpPr/>
          <p:nvPr/>
        </p:nvSpPr>
        <p:spPr>
          <a:xfrm>
            <a:off x="8147304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PPT-006_card3_label"/>
          <p:cNvSpPr txBox="1"/>
          <p:nvPr/>
        </p:nvSpPr>
        <p:spPr>
          <a:xfrm>
            <a:off x="8293608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3" name="PPT-006_card3_value"/>
          <p:cNvSpPr txBox="1"/>
          <p:nvPr/>
        </p:nvSpPr>
        <p:spPr>
          <a:xfrm>
            <a:off x="8293608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94" name="PPT-006_card3_compare"/>
          <p:cNvSpPr txBox="1"/>
          <p:nvPr/>
        </p:nvSpPr>
        <p:spPr>
          <a:xfrm>
            <a:off x="8293608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95" name="PPT-006_chart_forecast"/>
          <p:cNvGraphicFramePr>
            <a:graphicFrameLocks noGrp="1"/>
          </p:cNvGraphicFramePr>
          <p:nvPr/>
        </p:nvGraphicFramePr>
        <p:xfrm>
          <a:off x="411480" y="2724912"/>
          <a:ext cx="69494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6" name="PPT-006_outlook"/>
          <p:cNvSpPr txBox="1"/>
          <p:nvPr/>
        </p:nvSpPr>
        <p:spPr>
          <a:xfrm>
            <a:off x="7589520" y="2724912"/>
            <a:ext cx="4187952" cy="2834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97" name="PPT-006_disclaimer"/>
          <p:cNvSpPr txBox="1"/>
          <p:nvPr/>
        </p:nvSpPr>
        <p:spPr>
          <a:xfrm>
            <a:off x="411480" y="5724144"/>
            <a:ext cx="11365992" cy="56692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8" name="PPT-006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9" name="PPT-006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PA-PPT-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-00D_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PPT-00D_title"/>
          <p:cNvSpPr txBox="1"/>
          <p:nvPr/>
        </p:nvSpPr>
        <p:spPr>
          <a:xfrm>
            <a:off x="411480" y="109728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02" name="PPT-00D_disclaimer"/>
          <p:cNvSpPr txBox="1"/>
          <p:nvPr/>
        </p:nvSpPr>
        <p:spPr>
          <a:xfrm>
            <a:off x="411480" y="1828800"/>
            <a:ext cx="11365992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03" name="PPT-00D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4" name="PPT-00D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FP&amp;A Month-End Copilot deck template</dc:title>
  <dc:subject/>
  <dc:creator>FP&amp;A Month-End Copilot</dc:creator>
  <cp:keywords/>
  <dc:description>Generated by scripts/make_pptx_template.py per docs/12 section 3.6</dc:description>
  <cp:lastModifiedBy>scripts/make_pptx_template.py</cp:lastModifiedBy>
  <cp:revision>1</cp:revision>
  <dcterms:created xsi:type="dcterms:W3CDTF">2026-01-01T00:00:00Z</dcterms:created>
  <dcterms:modified xsi:type="dcterms:W3CDTF">2026-01-01T00:00:00Z</dcterms:modified>
  <cp:category/>
</cp:coreProperties>
</file>