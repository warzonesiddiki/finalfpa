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Amount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Opening</c:v>
                </c:pt>
                <c:pt idx="1">
                  <c:v>Materials</c:v>
                </c:pt>
                <c:pt idx="2">
                  <c:v>Closing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15770000.0</c:v>
                </c:pt>
                <c:pt idx="1">
                  <c:v>78000.0</c:v>
                </c:pt>
                <c:pt idx="2">
                  <c:v>16645000.0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Template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PA-PPT-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-001_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PT-001_title"/>
          <p:cNvSpPr txBox="1"/>
          <p:nvPr/>
        </p:nvSpPr>
        <p:spPr>
          <a:xfrm>
            <a:off x="411480" y="2011680"/>
            <a:ext cx="11365992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3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" name="PPT-001_packline"/>
          <p:cNvSpPr txBox="1"/>
          <p:nvPr/>
        </p:nvSpPr>
        <p:spPr>
          <a:xfrm>
            <a:off x="411480" y="2788920"/>
            <a:ext cx="11365992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5" name="PPT-001_periodline"/>
          <p:cNvSpPr txBox="1"/>
          <p:nvPr/>
        </p:nvSpPr>
        <p:spPr>
          <a:xfrm>
            <a:off x="411480" y="329184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4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" name="PPT-001_sources"/>
          <p:cNvSpPr txBox="1"/>
          <p:nvPr/>
        </p:nvSpPr>
        <p:spPr>
          <a:xfrm>
            <a:off x="411480" y="3794760"/>
            <a:ext cx="6858000" cy="14630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" name="PPT-001_stamp"/>
          <p:cNvSpPr txBox="1"/>
          <p:nvPr/>
        </p:nvSpPr>
        <p:spPr>
          <a:xfrm>
            <a:off x="7662672" y="3794760"/>
            <a:ext cx="4114800" cy="21945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9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pic>
        <p:nvPicPr>
          <p:cNvPr id="8" name="PPT-001_logo" descr="Proje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320040"/>
            <a:ext cx="1874519" cy="822960"/>
          </a:xfrm>
          <a:prstGeom prst="rect">
            <a:avLst/>
          </a:prstGeom>
        </p:spPr>
      </p:pic>
      <p:sp>
        <p:nvSpPr>
          <p:cNvPr id="9" name="PPT-001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" name="PPT-001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PA-PPT-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PT-002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2" name="PPT-002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3" name="PPT-002_kpi1_card"/>
          <p:cNvSpPr/>
          <p:nvPr/>
        </p:nvSpPr>
        <p:spPr>
          <a:xfrm>
            <a:off x="411480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PPT-002_kpi1_signal"/>
          <p:cNvSpPr/>
          <p:nvPr/>
        </p:nvSpPr>
        <p:spPr>
          <a:xfrm>
            <a:off x="411480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PPT-002_kpi1_label"/>
          <p:cNvSpPr txBox="1"/>
          <p:nvPr/>
        </p:nvSpPr>
        <p:spPr>
          <a:xfrm>
            <a:off x="557784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6" name="PPT-002_kpi1_value"/>
          <p:cNvSpPr txBox="1"/>
          <p:nvPr/>
        </p:nvSpPr>
        <p:spPr>
          <a:xfrm>
            <a:off x="557784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7" name="PPT-002_kpi1_compare"/>
          <p:cNvSpPr txBox="1"/>
          <p:nvPr/>
        </p:nvSpPr>
        <p:spPr>
          <a:xfrm>
            <a:off x="557784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8" name="PPT-002_kpi2_card"/>
          <p:cNvSpPr/>
          <p:nvPr/>
        </p:nvSpPr>
        <p:spPr>
          <a:xfrm>
            <a:off x="4279392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PPT-002_kpi2_signal"/>
          <p:cNvSpPr/>
          <p:nvPr/>
        </p:nvSpPr>
        <p:spPr>
          <a:xfrm>
            <a:off x="4279392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PPT-002_kpi2_label"/>
          <p:cNvSpPr txBox="1"/>
          <p:nvPr/>
        </p:nvSpPr>
        <p:spPr>
          <a:xfrm>
            <a:off x="4425696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1" name="PPT-002_kpi2_value"/>
          <p:cNvSpPr txBox="1"/>
          <p:nvPr/>
        </p:nvSpPr>
        <p:spPr>
          <a:xfrm>
            <a:off x="4425696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22" name="PPT-002_kpi2_compare"/>
          <p:cNvSpPr txBox="1"/>
          <p:nvPr/>
        </p:nvSpPr>
        <p:spPr>
          <a:xfrm>
            <a:off x="4425696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3" name="PPT-002_kpi3_card"/>
          <p:cNvSpPr/>
          <p:nvPr/>
        </p:nvSpPr>
        <p:spPr>
          <a:xfrm>
            <a:off x="8147304" y="132588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PPT-002_kpi3_signal"/>
          <p:cNvSpPr/>
          <p:nvPr/>
        </p:nvSpPr>
        <p:spPr>
          <a:xfrm>
            <a:off x="8147304" y="132588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PPT-002_kpi3_label"/>
          <p:cNvSpPr txBox="1"/>
          <p:nvPr/>
        </p:nvSpPr>
        <p:spPr>
          <a:xfrm>
            <a:off x="8293608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6" name="PPT-002_kpi3_value"/>
          <p:cNvSpPr txBox="1"/>
          <p:nvPr/>
        </p:nvSpPr>
        <p:spPr>
          <a:xfrm>
            <a:off x="8293608" y="163677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27" name="PPT-002_kpi3_compare"/>
          <p:cNvSpPr txBox="1"/>
          <p:nvPr/>
        </p:nvSpPr>
        <p:spPr>
          <a:xfrm>
            <a:off x="8293608" y="211226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28" name="PPT-002_kpi4_card"/>
          <p:cNvSpPr/>
          <p:nvPr/>
        </p:nvSpPr>
        <p:spPr>
          <a:xfrm>
            <a:off x="411480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PPT-002_kpi4_signal"/>
          <p:cNvSpPr/>
          <p:nvPr/>
        </p:nvSpPr>
        <p:spPr>
          <a:xfrm>
            <a:off x="411480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PPT-002_kpi4_label"/>
          <p:cNvSpPr txBox="1"/>
          <p:nvPr/>
        </p:nvSpPr>
        <p:spPr>
          <a:xfrm>
            <a:off x="557784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1" name="PPT-002_kpi4_value"/>
          <p:cNvSpPr txBox="1"/>
          <p:nvPr/>
        </p:nvSpPr>
        <p:spPr>
          <a:xfrm>
            <a:off x="557784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32" name="PPT-002_kpi4_compare"/>
          <p:cNvSpPr txBox="1"/>
          <p:nvPr/>
        </p:nvSpPr>
        <p:spPr>
          <a:xfrm>
            <a:off x="557784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3" name="PPT-002_kpi5_card"/>
          <p:cNvSpPr/>
          <p:nvPr/>
        </p:nvSpPr>
        <p:spPr>
          <a:xfrm>
            <a:off x="4279392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PPT-002_kpi5_signal"/>
          <p:cNvSpPr/>
          <p:nvPr/>
        </p:nvSpPr>
        <p:spPr>
          <a:xfrm>
            <a:off x="4279392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PPT-002_kpi5_label"/>
          <p:cNvSpPr txBox="1"/>
          <p:nvPr/>
        </p:nvSpPr>
        <p:spPr>
          <a:xfrm>
            <a:off x="4425696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6" name="PPT-002_kpi5_value"/>
          <p:cNvSpPr txBox="1"/>
          <p:nvPr/>
        </p:nvSpPr>
        <p:spPr>
          <a:xfrm>
            <a:off x="4425696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37" name="PPT-002_kpi5_compare"/>
          <p:cNvSpPr txBox="1"/>
          <p:nvPr/>
        </p:nvSpPr>
        <p:spPr>
          <a:xfrm>
            <a:off x="4425696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38" name="PPT-002_kpi6_card"/>
          <p:cNvSpPr/>
          <p:nvPr/>
        </p:nvSpPr>
        <p:spPr>
          <a:xfrm>
            <a:off x="8147304" y="2834640"/>
            <a:ext cx="3630168" cy="132588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PPT-002_kpi6_signal"/>
          <p:cNvSpPr/>
          <p:nvPr/>
        </p:nvSpPr>
        <p:spPr>
          <a:xfrm>
            <a:off x="8147304" y="2834640"/>
            <a:ext cx="54864" cy="132588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PPT-002_kpi6_label"/>
          <p:cNvSpPr txBox="1"/>
          <p:nvPr/>
        </p:nvSpPr>
        <p:spPr>
          <a:xfrm>
            <a:off x="8293608" y="292608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1" name="PPT-002_kpi6_value"/>
          <p:cNvSpPr txBox="1"/>
          <p:nvPr/>
        </p:nvSpPr>
        <p:spPr>
          <a:xfrm>
            <a:off x="8293608" y="3145536"/>
            <a:ext cx="344728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42" name="PPT-002_kpi6_compare"/>
          <p:cNvSpPr txBox="1"/>
          <p:nvPr/>
        </p:nvSpPr>
        <p:spPr>
          <a:xfrm>
            <a:off x="8293608" y="3621024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3" name="PPT-002_narrative_label"/>
          <p:cNvSpPr txBox="1"/>
          <p:nvPr/>
        </p:nvSpPr>
        <p:spPr>
          <a:xfrm>
            <a:off x="411480" y="3931920"/>
            <a:ext cx="1136599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4" name="PPT-002_narrative"/>
          <p:cNvSpPr txBox="1"/>
          <p:nvPr/>
        </p:nvSpPr>
        <p:spPr>
          <a:xfrm>
            <a:off x="411480" y="4242816"/>
            <a:ext cx="11365992" cy="1719072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2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45" name="PPT-002_footnote"/>
          <p:cNvSpPr txBox="1"/>
          <p:nvPr/>
        </p:nvSpPr>
        <p:spPr>
          <a:xfrm>
            <a:off x="411480" y="6071616"/>
            <a:ext cx="1136599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6" name="PPT-002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47" name="PPT-002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PA-PPT-0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PT-003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t>BvA bridge — FY26-P09</a:t>
            </a:r>
          </a:p>
        </p:txBody>
      </p:sp>
      <p:sp>
        <p:nvSpPr>
          <p:cNvPr id="49" name="PPT-003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50" name="PPT-003_chart_bridge"/>
          <p:cNvGraphicFramePr>
            <a:graphicFrameLocks noGrp="1"/>
          </p:cNvGraphicFramePr>
          <p:nvPr/>
        </p:nvGraphicFramePr>
        <p:xfrm>
          <a:off x="411480" y="1325880"/>
          <a:ext cx="786384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1" name="PPT-003_drivers"/>
          <p:cNvSpPr txBox="1"/>
          <p:nvPr/>
        </p:nvSpPr>
        <p:spPr>
          <a:xfrm>
            <a:off x="8503920" y="1325880"/>
            <a:ext cx="3273552" cy="452628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0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52" name="PPT-003_tieout"/>
          <p:cNvSpPr txBox="1"/>
          <p:nvPr/>
        </p:nvSpPr>
        <p:spPr>
          <a:xfrm>
            <a:off x="411480" y="5980176"/>
            <a:ext cx="113659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3" name="PPT-003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4" name="PPT-003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PA-PPT-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PT-004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56" name="PPT-004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57" name="PPT-004_table"/>
          <p:cNvGraphicFramePr>
            <a:graphicFrameLocks noGrp="1"/>
          </p:cNvGraphicFramePr>
          <p:nvPr/>
        </p:nvGraphicFramePr>
        <p:xfrm>
          <a:off x="411480" y="1325880"/>
          <a:ext cx="11365992" cy="32918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71600"/>
                <a:gridCol w="1371600"/>
                <a:gridCol w="1508760"/>
                <a:gridCol w="1051560"/>
                <a:gridCol w="914400"/>
                <a:gridCol w="2221992"/>
              </a:tblGrid>
              <a:tr h="470262">
                <a:tc>
                  <a:txBody>
                    <a:bodyPr wrap="square"/>
                    <a:lstStyle/>
                    <a:p>
                      <a:r>
                        <a:t>Account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Actual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Var %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Sig.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Driver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PPT-004_provenance"/>
          <p:cNvSpPr txBox="1"/>
          <p:nvPr/>
        </p:nvSpPr>
        <p:spPr>
          <a:xfrm>
            <a:off x="411480" y="47548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59" name="PPT-004_notes_line"/>
          <p:cNvSpPr txBox="1"/>
          <p:nvPr/>
        </p:nvSpPr>
        <p:spPr>
          <a:xfrm>
            <a:off x="411480" y="5138928"/>
            <a:ext cx="11365992" cy="8229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0" name="PPT-004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1" name="PPT-004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PA-PPT-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PT-005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63" name="PPT-005_kicker"/>
          <p:cNvSpPr txBox="1"/>
          <p:nvPr/>
        </p:nvSpPr>
        <p:spPr>
          <a:xfrm>
            <a:off x="411480" y="868680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4" name="PPT-005_chip1"/>
          <p:cNvSpPr/>
          <p:nvPr/>
        </p:nvSpPr>
        <p:spPr>
          <a:xfrm>
            <a:off x="411480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PPT-005_chip1_label"/>
          <p:cNvSpPr txBox="1"/>
          <p:nvPr/>
        </p:nvSpPr>
        <p:spPr>
          <a:xfrm>
            <a:off x="557784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6" name="PPT-005_chip1_value"/>
          <p:cNvSpPr txBox="1"/>
          <p:nvPr/>
        </p:nvSpPr>
        <p:spPr>
          <a:xfrm>
            <a:off x="557784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67" name="PPT-005_chip2"/>
          <p:cNvSpPr/>
          <p:nvPr/>
        </p:nvSpPr>
        <p:spPr>
          <a:xfrm>
            <a:off x="3282696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PPT-005_chip2_label"/>
          <p:cNvSpPr txBox="1"/>
          <p:nvPr/>
        </p:nvSpPr>
        <p:spPr>
          <a:xfrm>
            <a:off x="3429000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69" name="PPT-005_chip2_value"/>
          <p:cNvSpPr txBox="1"/>
          <p:nvPr/>
        </p:nvSpPr>
        <p:spPr>
          <a:xfrm>
            <a:off x="3429000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0" name="PPT-005_chip3"/>
          <p:cNvSpPr/>
          <p:nvPr/>
        </p:nvSpPr>
        <p:spPr>
          <a:xfrm>
            <a:off x="6153912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PPT-005_chip3_label"/>
          <p:cNvSpPr txBox="1"/>
          <p:nvPr/>
        </p:nvSpPr>
        <p:spPr>
          <a:xfrm>
            <a:off x="6300216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72" name="PPT-005_chip3_value"/>
          <p:cNvSpPr txBox="1"/>
          <p:nvPr/>
        </p:nvSpPr>
        <p:spPr>
          <a:xfrm>
            <a:off x="6300216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3" name="PPT-005_chip4"/>
          <p:cNvSpPr/>
          <p:nvPr/>
        </p:nvSpPr>
        <p:spPr>
          <a:xfrm>
            <a:off x="9025128" y="1325880"/>
            <a:ext cx="2743200" cy="6858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PPT-005_chip4_label"/>
          <p:cNvSpPr txBox="1"/>
          <p:nvPr/>
        </p:nvSpPr>
        <p:spPr>
          <a:xfrm>
            <a:off x="9171432" y="1417320"/>
            <a:ext cx="245059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75" name="PPT-005_chip4_value"/>
          <p:cNvSpPr txBox="1"/>
          <p:nvPr/>
        </p:nvSpPr>
        <p:spPr>
          <a:xfrm>
            <a:off x="9171432" y="1645920"/>
            <a:ext cx="2450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6" name="PPT-005_risknote"/>
          <p:cNvSpPr txBox="1"/>
          <p:nvPr/>
        </p:nvSpPr>
        <p:spPr>
          <a:xfrm>
            <a:off x="411480" y="2048256"/>
            <a:ext cx="11365992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9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77" name="PPT-005_table"/>
          <p:cNvGraphicFramePr>
            <a:graphicFrameLocks noGrp="1"/>
          </p:cNvGraphicFramePr>
          <p:nvPr/>
        </p:nvGraphicFramePr>
        <p:xfrm>
          <a:off x="411480" y="2359152"/>
          <a:ext cx="11365992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1371600"/>
                <a:gridCol w="914400"/>
                <a:gridCol w="1280160"/>
                <a:gridCol w="2587752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Subject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At risk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Sev.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Status / Age</a:t>
                      </a:r>
                    </a:p>
                  </a:txBody>
                  <a:tcPr marL="54864" marR="54864" marT="18288" marB="18288">
                    <a:solidFill>
                      <a:srgbClr val="1F3A5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>
                          <a:solidFill>
                            <a:srgbClr val="1F2937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PPT-005_summary"/>
          <p:cNvSpPr txBox="1"/>
          <p:nvPr/>
        </p:nvSpPr>
        <p:spPr>
          <a:xfrm>
            <a:off x="411480" y="5431536"/>
            <a:ext cx="11365992" cy="859536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79" name="PPT-005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0" name="PPT-005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PA-PPT-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PT-006_title"/>
          <p:cNvSpPr txBox="1"/>
          <p:nvPr/>
        </p:nvSpPr>
        <p:spPr>
          <a:xfrm>
            <a:off x="411480" y="32004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82" name="PPT-006_scenario"/>
          <p:cNvSpPr txBox="1"/>
          <p:nvPr/>
        </p:nvSpPr>
        <p:spPr>
          <a:xfrm>
            <a:off x="411480" y="868680"/>
            <a:ext cx="11365992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3" name="PPT-006_card1"/>
          <p:cNvSpPr/>
          <p:nvPr/>
        </p:nvSpPr>
        <p:spPr>
          <a:xfrm>
            <a:off x="411480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PPT-006_card1_label"/>
          <p:cNvSpPr txBox="1"/>
          <p:nvPr/>
        </p:nvSpPr>
        <p:spPr>
          <a:xfrm>
            <a:off x="557784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5" name="PPT-006_card1_value"/>
          <p:cNvSpPr txBox="1"/>
          <p:nvPr/>
        </p:nvSpPr>
        <p:spPr>
          <a:xfrm>
            <a:off x="557784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86" name="PPT-006_card1_compare"/>
          <p:cNvSpPr txBox="1"/>
          <p:nvPr/>
        </p:nvSpPr>
        <p:spPr>
          <a:xfrm>
            <a:off x="557784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7" name="PPT-006_card2"/>
          <p:cNvSpPr/>
          <p:nvPr/>
        </p:nvSpPr>
        <p:spPr>
          <a:xfrm>
            <a:off x="4279392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PPT-006_card2_label"/>
          <p:cNvSpPr txBox="1"/>
          <p:nvPr/>
        </p:nvSpPr>
        <p:spPr>
          <a:xfrm>
            <a:off x="4425696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89" name="PPT-006_card2_value"/>
          <p:cNvSpPr txBox="1"/>
          <p:nvPr/>
        </p:nvSpPr>
        <p:spPr>
          <a:xfrm>
            <a:off x="4425696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90" name="PPT-006_card2_compare"/>
          <p:cNvSpPr txBox="1"/>
          <p:nvPr/>
        </p:nvSpPr>
        <p:spPr>
          <a:xfrm>
            <a:off x="4425696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1" name="PPT-006_card3"/>
          <p:cNvSpPr/>
          <p:nvPr/>
        </p:nvSpPr>
        <p:spPr>
          <a:xfrm>
            <a:off x="8147304" y="1325880"/>
            <a:ext cx="3630168" cy="12344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PPT-006_card3_label"/>
          <p:cNvSpPr txBox="1"/>
          <p:nvPr/>
        </p:nvSpPr>
        <p:spPr>
          <a:xfrm>
            <a:off x="8293608" y="1417320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3" name="PPT-006_card3_value"/>
          <p:cNvSpPr txBox="1"/>
          <p:nvPr/>
        </p:nvSpPr>
        <p:spPr>
          <a:xfrm>
            <a:off x="8293608" y="1636776"/>
            <a:ext cx="3447288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2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94" name="PPT-006_card3_compare"/>
          <p:cNvSpPr txBox="1"/>
          <p:nvPr/>
        </p:nvSpPr>
        <p:spPr>
          <a:xfrm>
            <a:off x="8293608" y="2075688"/>
            <a:ext cx="344728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0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graphicFrame>
        <p:nvGraphicFramePr>
          <p:cNvPr id="95" name="PPT-006_chart_forecast"/>
          <p:cNvGraphicFramePr>
            <a:graphicFrameLocks noGrp="1"/>
          </p:cNvGraphicFramePr>
          <p:nvPr/>
        </p:nvGraphicFramePr>
        <p:xfrm>
          <a:off x="411480" y="2724912"/>
          <a:ext cx="69494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6" name="PPT-006_outlook"/>
          <p:cNvSpPr txBox="1"/>
          <p:nvPr/>
        </p:nvSpPr>
        <p:spPr>
          <a:xfrm>
            <a:off x="7589520" y="2724912"/>
            <a:ext cx="4187952" cy="283464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97" name="PPT-006_disclaimer"/>
          <p:cNvSpPr txBox="1"/>
          <p:nvPr/>
        </p:nvSpPr>
        <p:spPr>
          <a:xfrm>
            <a:off x="411480" y="5724144"/>
            <a:ext cx="11365992" cy="566928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8" name="PPT-006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99" name="PPT-006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PA-PPT-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-00D_accent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PPT-00D_title"/>
          <p:cNvSpPr txBox="1"/>
          <p:nvPr/>
        </p:nvSpPr>
        <p:spPr>
          <a:xfrm>
            <a:off x="411480" y="1097280"/>
            <a:ext cx="1136599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400" b="1">
                <a:solidFill>
                  <a:srgbClr val="1F3A5F"/>
                </a:solidFill>
                <a:latin typeface="Calibri"/>
              </a:rPr>
              <a:t/>
            </a:r>
          </a:p>
        </p:txBody>
      </p:sp>
      <p:sp>
        <p:nvSpPr>
          <p:cNvPr id="102" name="PPT-00D_disclaimer"/>
          <p:cNvSpPr txBox="1"/>
          <p:nvPr/>
        </p:nvSpPr>
        <p:spPr>
          <a:xfrm>
            <a:off x="411480" y="1828800"/>
            <a:ext cx="11365992" cy="4023360"/>
          </a:xfrm>
          <a:prstGeom prst="rect">
            <a:avLst/>
          </a:prstGeom>
          <a:noFill/>
        </p:spPr>
        <p:txBody>
          <a:bodyPr wrap="square" anchor="t" lIns="45720" rIns="45720">
            <a:noAutofit/>
          </a:bodyPr>
          <a:lstStyle/>
          <a:p>
            <a:r>
              <a:rPr sz="1100" b="0">
                <a:solidFill>
                  <a:srgbClr val="1F2937"/>
                </a:solidFill>
                <a:latin typeface="Calibri"/>
              </a:rPr>
              <a:t/>
            </a:r>
          </a:p>
        </p:txBody>
      </p:sp>
      <p:sp>
        <p:nvSpPr>
          <p:cNvPr id="103" name="PPT-00D_footer_left"/>
          <p:cNvSpPr txBox="1"/>
          <p:nvPr/>
        </p:nvSpPr>
        <p:spPr>
          <a:xfrm>
            <a:off x="411480" y="6437376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  <p:sp>
        <p:nvSpPr>
          <p:cNvPr id="104" name="PPT-00D_footer_right"/>
          <p:cNvSpPr txBox="1"/>
          <p:nvPr/>
        </p:nvSpPr>
        <p:spPr>
          <a:xfrm>
            <a:off x="8778240" y="6437376"/>
            <a:ext cx="2999232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800" b="0">
                <a:solidFill>
                  <a:srgbClr val="6B7280"/>
                </a:solidFill>
                <a:latin typeface="Calibri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FP&amp;A Month-End Copilot deck template</dc:title>
  <dc:subject/>
  <dc:creator>FP&amp;A Month-End Copilot</dc:creator>
  <cp:keywords/>
  <dc:description>Generated by scripts/make_pptx_template.py per docs/12 section 3.6</dc:description>
  <cp:lastModifiedBy>scripts/make_pptx_template.py</cp:lastModifiedBy>
  <cp:revision>1</cp:revision>
  <dcterms:created xsi:type="dcterms:W3CDTF">2026-01-01T00:00:00Z</dcterms:created>
  <dcterms:modified xsi:type="dcterms:W3CDTF">2026-01-01T00:00:00Z</dcterms:modified>
  <cp:category/>
</cp:coreProperties>
</file>